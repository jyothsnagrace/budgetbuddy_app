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287000" cx="18288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Alata"/>
      <p:regular r:id="rId18"/>
    </p:embeddedFont>
    <p:embeddedFont>
      <p:font typeface="Lilita One"/>
      <p:regular r:id="rId19"/>
    </p:embeddedFont>
    <p:embeddedFont>
      <p:font typeface="Gochi Hand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3T3frzwLaKp2ivT/Ld/17awWc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FA52A1-599A-4976-AB54-B38F7005AE84}">
  <a:tblStyle styleId="{10FA52A1-599A-4976-AB54-B38F7005AE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chiHan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ilitaOne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lat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a309beb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aa309beb7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10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hyperlink" Target="https://budget-buddy-llm-app.vercel.app" TargetMode="External"/><Relationship Id="rId6" Type="http://schemas.openxmlformats.org/officeDocument/2006/relationships/hyperlink" Target="https://budgetbuddy-group3.up.railway.app" TargetMode="External"/><Relationship Id="rId7" Type="http://schemas.openxmlformats.org/officeDocument/2006/relationships/hyperlink" Target="https://drive.google.com/file/d/1z_1SgT3_gof1IQKHlQWHNbt_sACUJ0R4/view?usp=sharing" TargetMode="External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53294" y="-89718"/>
            <a:ext cx="73836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4">
                <a:solidFill>
                  <a:srgbClr val="2F2325"/>
                </a:solidFill>
                <a:latin typeface="Lilita One"/>
                <a:ea typeface="Lilita One"/>
                <a:cs typeface="Lilita One"/>
                <a:sym typeface="Lilita One"/>
              </a:rPr>
              <a:t>Budget Buddy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5632" y="1433022"/>
            <a:ext cx="9144000" cy="275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none" strike="noStrike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Problem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Personal finance is fragmented and hard to manage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Users struggle with tracking spending, understanding statements, and planning savings/debt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Existing tools are static and lack personalized guidance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730796" y="1452072"/>
            <a:ext cx="8557204" cy="309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S</a:t>
            </a:r>
            <a:r>
              <a:rPr lang="en-US" sz="2900" u="none" strike="noStrike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olution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none" strike="noStrike">
                <a:solidFill>
                  <a:srgbClr val="593232"/>
                </a:solidFill>
                <a:latin typeface="Alata"/>
                <a:ea typeface="Alata"/>
                <a:cs typeface="Alata"/>
                <a:sym typeface="Alata"/>
              </a:rPr>
              <a:t>BudgetBuddy </a:t>
            </a:r>
            <a:r>
              <a:rPr lang="en-US" sz="2900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is an AI-powered personal finance assistant that: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Ingests user financial data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Enriches it with real-world financial signals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Uses LLMs to provide personalized, conversational advice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1028700" y="4853772"/>
            <a:ext cx="7260534" cy="4404528"/>
            <a:chOff x="0" y="-140874"/>
            <a:chExt cx="9680712" cy="5872703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1062911" y="-140874"/>
              <a:ext cx="7083123" cy="1231773"/>
              <a:chOff x="0" y="-66675"/>
              <a:chExt cx="3352408" cy="582992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3352408" cy="516317"/>
              </a:xfrm>
              <a:custGeom>
                <a:rect b="b" l="l" r="r" t="t"/>
                <a:pathLst>
                  <a:path extrusionOk="0" h="516317" w="3352408">
                    <a:moveTo>
                      <a:pt x="83261" y="0"/>
                    </a:moveTo>
                    <a:lnTo>
                      <a:pt x="3269146" y="0"/>
                    </a:lnTo>
                    <a:cubicBezTo>
                      <a:pt x="3315130" y="0"/>
                      <a:pt x="3352408" y="37277"/>
                      <a:pt x="3352408" y="83261"/>
                    </a:cubicBezTo>
                    <a:lnTo>
                      <a:pt x="3352408" y="433056"/>
                    </a:lnTo>
                    <a:cubicBezTo>
                      <a:pt x="3352408" y="479040"/>
                      <a:pt x="3315130" y="516317"/>
                      <a:pt x="3269146" y="516317"/>
                    </a:cubicBezTo>
                    <a:lnTo>
                      <a:pt x="83261" y="516317"/>
                    </a:lnTo>
                    <a:cubicBezTo>
                      <a:pt x="37277" y="516317"/>
                      <a:pt x="0" y="479040"/>
                      <a:pt x="0" y="433056"/>
                    </a:cubicBezTo>
                    <a:lnTo>
                      <a:pt x="0" y="83261"/>
                    </a:lnTo>
                    <a:cubicBezTo>
                      <a:pt x="0" y="37277"/>
                      <a:pt x="37277" y="0"/>
                      <a:pt x="83261" y="0"/>
                    </a:cubicBezTo>
                    <a:close/>
                  </a:path>
                </a:pathLst>
              </a:custGeom>
              <a:solidFill>
                <a:srgbClr val="DF926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0" y="-66675"/>
                <a:ext cx="3352408" cy="582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900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🧰 Tech Stack</a:t>
                </a:r>
                <a:endParaRPr/>
              </a:p>
            </p:txBody>
          </p:sp>
        </p:grpSp>
        <p:sp>
          <p:nvSpPr>
            <p:cNvPr id="92" name="Google Shape;92;p1"/>
            <p:cNvSpPr txBox="1"/>
            <p:nvPr/>
          </p:nvSpPr>
          <p:spPr>
            <a:xfrm>
              <a:off x="0" y="1465600"/>
              <a:ext cx="9680712" cy="42662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📱 F</a:t>
              </a: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rontend: React, Typescript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⚙️ Backend: Python, FastAPI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🧠 LLMs: Groq, Gemini, RapidAPI, 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🗄️ Database: Supabase, PostgreSQL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🔍 Vector DB: pgvector (RAG)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1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🌐 APIs: OpenAI API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1" u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9730796" y="4824577"/>
            <a:ext cx="8203486" cy="4751614"/>
            <a:chOff x="0" y="-179801"/>
            <a:chExt cx="10937982" cy="6335485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1525587" y="-179801"/>
              <a:ext cx="5871184" cy="1200438"/>
              <a:chOff x="0" y="-66675"/>
              <a:chExt cx="2177195" cy="445155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0" y="0"/>
                <a:ext cx="2177195" cy="378480"/>
              </a:xfrm>
              <a:custGeom>
                <a:rect b="b" l="l" r="r" t="t"/>
                <a:pathLst>
                  <a:path extrusionOk="0" h="378480" w="2177195">
                    <a:moveTo>
                      <a:pt x="128205" y="0"/>
                    </a:moveTo>
                    <a:lnTo>
                      <a:pt x="2048991" y="0"/>
                    </a:lnTo>
                    <a:cubicBezTo>
                      <a:pt x="2119796" y="0"/>
                      <a:pt x="2177195" y="57399"/>
                      <a:pt x="2177195" y="128205"/>
                    </a:cubicBezTo>
                    <a:lnTo>
                      <a:pt x="2177195" y="250276"/>
                    </a:lnTo>
                    <a:cubicBezTo>
                      <a:pt x="2177195" y="321081"/>
                      <a:pt x="2119796" y="378480"/>
                      <a:pt x="2048991" y="378480"/>
                    </a:cubicBezTo>
                    <a:lnTo>
                      <a:pt x="128205" y="378480"/>
                    </a:lnTo>
                    <a:cubicBezTo>
                      <a:pt x="94203" y="378480"/>
                      <a:pt x="61593" y="364973"/>
                      <a:pt x="37550" y="340930"/>
                    </a:cubicBezTo>
                    <a:cubicBezTo>
                      <a:pt x="13507" y="316887"/>
                      <a:pt x="0" y="284278"/>
                      <a:pt x="0" y="250276"/>
                    </a:cubicBezTo>
                    <a:lnTo>
                      <a:pt x="0" y="128205"/>
                    </a:lnTo>
                    <a:cubicBezTo>
                      <a:pt x="0" y="57399"/>
                      <a:pt x="57399" y="0"/>
                      <a:pt x="128205" y="0"/>
                    </a:cubicBezTo>
                    <a:close/>
                  </a:path>
                </a:pathLst>
              </a:custGeom>
              <a:solidFill>
                <a:srgbClr val="DF926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0" y="-66675"/>
                <a:ext cx="2177195" cy="445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0875" lIns="40875" spcFirstLastPara="1" rIns="40875" wrap="square" tIns="40875">
                <a:noAutofit/>
              </a:bodyPr>
              <a:lstStyle/>
              <a:p>
                <a:pPr indent="0" lvl="0" marL="0" marR="0" rtl="0" algn="ctr">
                  <a:lnSpc>
                    <a:spcPct val="14001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99" u="none" strike="noStrike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Success Metrics</a:t>
                </a:r>
                <a:endParaRPr/>
              </a:p>
            </p:txBody>
          </p:sp>
        </p:grpSp>
        <p:sp>
          <p:nvSpPr>
            <p:cNvPr id="97" name="Google Shape;97;p1"/>
            <p:cNvSpPr txBox="1"/>
            <p:nvPr/>
          </p:nvSpPr>
          <p:spPr>
            <a:xfrm>
              <a:off x="0" y="1319312"/>
              <a:ext cx="10937982" cy="4836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Accuracy:</a:t>
              </a: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 Correct parsing and categorization of statements (target: &gt;75%).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Response Quality: User ratings of LLM-generated advice (target: &gt;3/5).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u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System Reliability: Uptime and error rates (target: &gt;60% uptime).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Deployment Readiness: Successful deployment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3411064" y="41403"/>
            <a:ext cx="4676759" cy="1212928"/>
            <a:chOff x="0" y="-66675"/>
            <a:chExt cx="2082748" cy="540166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2082748" cy="473491"/>
            </a:xfrm>
            <a:custGeom>
              <a:rect b="b" l="l" r="r" t="t"/>
              <a:pathLst>
                <a:path extrusionOk="0" h="473491" w="2082748">
                  <a:moveTo>
                    <a:pt x="132432" y="0"/>
                  </a:moveTo>
                  <a:lnTo>
                    <a:pt x="1950316" y="0"/>
                  </a:lnTo>
                  <a:cubicBezTo>
                    <a:pt x="2023456" y="0"/>
                    <a:pt x="2082748" y="59292"/>
                    <a:pt x="2082748" y="132432"/>
                  </a:cubicBezTo>
                  <a:lnTo>
                    <a:pt x="2082748" y="341058"/>
                  </a:lnTo>
                  <a:cubicBezTo>
                    <a:pt x="2082748" y="414199"/>
                    <a:pt x="2023456" y="473491"/>
                    <a:pt x="1950316" y="473491"/>
                  </a:cubicBezTo>
                  <a:lnTo>
                    <a:pt x="132432" y="473491"/>
                  </a:lnTo>
                  <a:cubicBezTo>
                    <a:pt x="59292" y="473491"/>
                    <a:pt x="0" y="414199"/>
                    <a:pt x="0" y="341058"/>
                  </a:cubicBezTo>
                  <a:lnTo>
                    <a:pt x="0" y="132432"/>
                  </a:lnTo>
                  <a:cubicBezTo>
                    <a:pt x="0" y="59292"/>
                    <a:pt x="59292" y="0"/>
                    <a:pt x="132432" y="0"/>
                  </a:cubicBezTo>
                  <a:close/>
                </a:path>
              </a:pathLst>
            </a:custGeom>
            <a:solidFill>
              <a:srgbClr val="FFDB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66675"/>
              <a:ext cx="2082748" cy="540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75" lIns="40875" spcFirstLastPara="1" rIns="40875" wrap="square" tIns="40875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69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Alyssa Sharma</a:t>
              </a:r>
              <a:endParaRPr/>
            </a:p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69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Leela Josna Kona</a:t>
              </a:r>
              <a:endParaRPr/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6340220" y="8847839"/>
            <a:ext cx="3079412" cy="3275970"/>
          </a:xfrm>
          <a:custGeom>
            <a:rect b="b" l="l" r="r" t="t"/>
            <a:pathLst>
              <a:path extrusionOk="0" h="3275970" w="3079412">
                <a:moveTo>
                  <a:pt x="0" y="0"/>
                </a:moveTo>
                <a:lnTo>
                  <a:pt x="3079412" y="0"/>
                </a:lnTo>
                <a:lnTo>
                  <a:pt x="3079412" y="3275971"/>
                </a:lnTo>
                <a:lnTo>
                  <a:pt x="0" y="3275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0468974" y="35226"/>
            <a:ext cx="5312342" cy="923830"/>
            <a:chOff x="0" y="-66675"/>
            <a:chExt cx="3352408" cy="582992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3352408" cy="516317"/>
            </a:xfrm>
            <a:custGeom>
              <a:rect b="b" l="l" r="r" t="t"/>
              <a:pathLst>
                <a:path extrusionOk="0" h="516317" w="3352408">
                  <a:moveTo>
                    <a:pt x="116588" y="0"/>
                  </a:moveTo>
                  <a:lnTo>
                    <a:pt x="3235820" y="0"/>
                  </a:lnTo>
                  <a:cubicBezTo>
                    <a:pt x="3300210" y="0"/>
                    <a:pt x="3352408" y="52198"/>
                    <a:pt x="3352408" y="116588"/>
                  </a:cubicBezTo>
                  <a:lnTo>
                    <a:pt x="3352408" y="399729"/>
                  </a:lnTo>
                  <a:cubicBezTo>
                    <a:pt x="3352408" y="464119"/>
                    <a:pt x="3300210" y="516317"/>
                    <a:pt x="3235820" y="516317"/>
                  </a:cubicBezTo>
                  <a:lnTo>
                    <a:pt x="116588" y="516317"/>
                  </a:lnTo>
                  <a:cubicBezTo>
                    <a:pt x="85667" y="516317"/>
                    <a:pt x="56012" y="504034"/>
                    <a:pt x="34148" y="482169"/>
                  </a:cubicBezTo>
                  <a:cubicBezTo>
                    <a:pt x="12283" y="460305"/>
                    <a:pt x="0" y="430650"/>
                    <a:pt x="0" y="399729"/>
                  </a:cubicBezTo>
                  <a:lnTo>
                    <a:pt x="0" y="116588"/>
                  </a:lnTo>
                  <a:cubicBezTo>
                    <a:pt x="0" y="85667"/>
                    <a:pt x="12283" y="56012"/>
                    <a:pt x="34148" y="34148"/>
                  </a:cubicBezTo>
                  <a:cubicBezTo>
                    <a:pt x="56012" y="12283"/>
                    <a:pt x="85667" y="0"/>
                    <a:pt x="116588" y="0"/>
                  </a:cubicBez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66675"/>
              <a:ext cx="3352408" cy="582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Expense Distribution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15781316" y="8795710"/>
            <a:ext cx="2506684" cy="2666685"/>
          </a:xfrm>
          <a:custGeom>
            <a:rect b="b" l="l" r="r" t="t"/>
            <a:pathLst>
              <a:path extrusionOk="0" h="2666685" w="2506684">
                <a:moveTo>
                  <a:pt x="0" y="0"/>
                </a:moveTo>
                <a:lnTo>
                  <a:pt x="2506684" y="0"/>
                </a:lnTo>
                <a:lnTo>
                  <a:pt x="2506684" y="2666685"/>
                </a:lnTo>
                <a:lnTo>
                  <a:pt x="0" y="2666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716370" y="1254331"/>
            <a:ext cx="9571630" cy="4917425"/>
          </a:xfrm>
          <a:custGeom>
            <a:rect b="b" l="l" r="r" t="t"/>
            <a:pathLst>
              <a:path extrusionOk="0" h="4917425" w="9571630">
                <a:moveTo>
                  <a:pt x="0" y="0"/>
                </a:moveTo>
                <a:lnTo>
                  <a:pt x="9571630" y="0"/>
                </a:lnTo>
                <a:lnTo>
                  <a:pt x="9571630" y="4917425"/>
                </a:lnTo>
                <a:lnTo>
                  <a:pt x="0" y="4917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9627799" y="6388770"/>
            <a:ext cx="8251583" cy="907674"/>
          </a:xfrm>
          <a:custGeom>
            <a:rect b="b" l="l" r="r" t="t"/>
            <a:pathLst>
              <a:path extrusionOk="0" h="907674" w="8251583">
                <a:moveTo>
                  <a:pt x="0" y="0"/>
                </a:moveTo>
                <a:lnTo>
                  <a:pt x="8251583" y="0"/>
                </a:lnTo>
                <a:lnTo>
                  <a:pt x="8251583" y="907674"/>
                </a:lnTo>
                <a:lnTo>
                  <a:pt x="0" y="90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53294" y="-89718"/>
            <a:ext cx="96525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84">
                <a:solidFill>
                  <a:srgbClr val="2F2325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53294" y="1547621"/>
            <a:ext cx="8262898" cy="2735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88" lvl="1" marL="604576" marR="0" rtl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User-generated expenses, budgets, profiles</a:t>
            </a:r>
            <a:endParaRPr/>
          </a:p>
          <a:p>
            <a:pPr indent="-302288" lvl="1" marL="604576" marR="0" rtl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Receipt images: merchant, total, items</a:t>
            </a:r>
            <a:endParaRPr/>
          </a:p>
          <a:p>
            <a:pPr indent="-302288" lvl="1" marL="604576" marR="0" rtl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External city/cost-of-living signals</a:t>
            </a:r>
            <a:endParaRPr/>
          </a:p>
          <a:p>
            <a:pPr indent="-302288" lvl="1" marL="604576" marR="0" rtl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Cafe chat history and memory turns</a:t>
            </a:r>
            <a:endParaRPr/>
          </a:p>
          <a:p>
            <a:pPr indent="0" lvl="0" marL="0" marR="0" rtl="0" algn="l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426249" y="7513458"/>
            <a:ext cx="13076811" cy="2408911"/>
            <a:chOff x="0" y="0"/>
            <a:chExt cx="1623900" cy="299143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623783" cy="299083"/>
            </a:xfrm>
            <a:custGeom>
              <a:rect b="b" l="l" r="r" t="t"/>
              <a:pathLst>
                <a:path extrusionOk="0" h="299083" w="1623783">
                  <a:moveTo>
                    <a:pt x="11564" y="0"/>
                  </a:moveTo>
                  <a:lnTo>
                    <a:pt x="1612219" y="0"/>
                  </a:lnTo>
                  <a:cubicBezTo>
                    <a:pt x="1615286" y="0"/>
                    <a:pt x="1618227" y="1218"/>
                    <a:pt x="1620396" y="3387"/>
                  </a:cubicBezTo>
                  <a:cubicBezTo>
                    <a:pt x="1622564" y="5556"/>
                    <a:pt x="1623783" y="8497"/>
                    <a:pt x="1623783" y="11564"/>
                  </a:cubicBezTo>
                  <a:lnTo>
                    <a:pt x="1623783" y="287519"/>
                  </a:lnTo>
                  <a:cubicBezTo>
                    <a:pt x="1623783" y="293906"/>
                    <a:pt x="1618605" y="299083"/>
                    <a:pt x="1612219" y="299083"/>
                  </a:cubicBezTo>
                  <a:lnTo>
                    <a:pt x="11564" y="299083"/>
                  </a:lnTo>
                  <a:cubicBezTo>
                    <a:pt x="8497" y="299083"/>
                    <a:pt x="5556" y="297865"/>
                    <a:pt x="3387" y="295696"/>
                  </a:cubicBezTo>
                  <a:cubicBezTo>
                    <a:pt x="1218" y="293527"/>
                    <a:pt x="0" y="290586"/>
                    <a:pt x="0" y="287519"/>
                  </a:cubicBezTo>
                  <a:lnTo>
                    <a:pt x="0" y="11564"/>
                  </a:lnTo>
                  <a:cubicBezTo>
                    <a:pt x="0" y="5177"/>
                    <a:pt x="5177" y="0"/>
                    <a:pt x="11564" y="0"/>
                  </a:cubicBezTo>
                  <a:close/>
                </a:path>
              </a:pathLst>
            </a:custGeom>
            <a:solidFill>
              <a:srgbClr val="FFDB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43"/>
              <a:ext cx="1623900" cy="2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-237491" lvl="1" marL="474981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Frontend (React) -&gt; FastAPI -&gt; LLM/Agent layer -&gt; Tool execution → Supabase → External APIs</a:t>
              </a:r>
              <a:endParaRPr/>
            </a:p>
            <a:p>
              <a:pPr indent="-237491" lvl="1" marL="474981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Multimodal flows: text expense parsing, receipt OCR/Vision, cafe conversation</a:t>
              </a:r>
              <a:endParaRPr/>
            </a:p>
            <a:p>
              <a:pPr indent="-237491" lvl="1" marL="474981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Planner-Executor-Reviewer orchestration for multi-step tasks</a:t>
              </a:r>
              <a:endParaRPr/>
            </a:p>
            <a:p>
              <a:pPr indent="-237491" lvl="1" marL="474981" marR="0" rtl="0" algn="l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Char char="•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lata"/>
                  <a:ea typeface="Alata"/>
                  <a:cs typeface="Alata"/>
                  <a:sym typeface="Alata"/>
                </a:rPr>
                <a:t>Multi-agent personas (Penny, Esper, Capy, Mochi)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976674" y="1683399"/>
            <a:ext cx="12334662" cy="8217968"/>
          </a:xfrm>
          <a:custGeom>
            <a:rect b="b" l="l" r="r" t="t"/>
            <a:pathLst>
              <a:path extrusionOk="0" h="8217968" w="12334662">
                <a:moveTo>
                  <a:pt x="0" y="0"/>
                </a:moveTo>
                <a:lnTo>
                  <a:pt x="12334662" y="0"/>
                </a:lnTo>
                <a:lnTo>
                  <a:pt x="12334662" y="8217968"/>
                </a:lnTo>
                <a:lnTo>
                  <a:pt x="0" y="8217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FFAEA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3"/>
          <p:cNvGrpSpPr/>
          <p:nvPr/>
        </p:nvGrpSpPr>
        <p:grpSpPr>
          <a:xfrm>
            <a:off x="4843650" y="-2"/>
            <a:ext cx="8600705" cy="1161590"/>
            <a:chOff x="0" y="-66675"/>
            <a:chExt cx="2183308" cy="405300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2183308" cy="338475"/>
            </a:xfrm>
            <a:custGeom>
              <a:rect b="b" l="l" r="r" t="t"/>
              <a:pathLst>
                <a:path extrusionOk="0" h="338475" w="2183308">
                  <a:moveTo>
                    <a:pt x="2183308" y="0"/>
                  </a:moveTo>
                  <a:lnTo>
                    <a:pt x="0" y="0"/>
                  </a:lnTo>
                  <a:lnTo>
                    <a:pt x="101600" y="169238"/>
                  </a:lnTo>
                  <a:lnTo>
                    <a:pt x="0" y="338475"/>
                  </a:lnTo>
                  <a:lnTo>
                    <a:pt x="2183308" y="338475"/>
                  </a:lnTo>
                  <a:lnTo>
                    <a:pt x="2081708" y="169238"/>
                  </a:lnTo>
                  <a:lnTo>
                    <a:pt x="2183308" y="0"/>
                  </a:ln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3850" lIns="87750" spcFirstLastPara="1" rIns="87750" wrap="square" tIns="43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2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88900" y="-66675"/>
              <a:ext cx="20055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74">
                  <a:solidFill>
                    <a:srgbClr val="593232"/>
                  </a:solidFill>
                  <a:latin typeface="Arial"/>
                  <a:ea typeface="Arial"/>
                  <a:cs typeface="Arial"/>
                  <a:sym typeface="Arial"/>
                </a:rPr>
                <a:t>High Level Architecture and </a:t>
              </a:r>
              <a:r>
                <a:rPr b="1" lang="en-US" sz="2974">
                  <a:solidFill>
                    <a:srgbClr val="593232"/>
                  </a:solidFill>
                </a:rPr>
                <a:t>Workflow</a:t>
              </a:r>
              <a:endParaRPr sz="1344"/>
            </a:p>
          </p:txBody>
        </p:sp>
      </p:grpSp>
      <p:sp>
        <p:nvSpPr>
          <p:cNvPr id="127" name="Google Shape;127;p3"/>
          <p:cNvSpPr/>
          <p:nvPr/>
        </p:nvSpPr>
        <p:spPr>
          <a:xfrm>
            <a:off x="142839" y="91281"/>
            <a:ext cx="1771722" cy="1874838"/>
          </a:xfrm>
          <a:custGeom>
            <a:rect b="b" l="l" r="r" t="t"/>
            <a:pathLst>
              <a:path extrusionOk="0" h="1874838" w="1771722">
                <a:moveTo>
                  <a:pt x="0" y="0"/>
                </a:moveTo>
                <a:lnTo>
                  <a:pt x="1771722" y="0"/>
                </a:lnTo>
                <a:lnTo>
                  <a:pt x="1771722" y="1874838"/>
                </a:lnTo>
                <a:lnTo>
                  <a:pt x="0" y="18748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a309beb7_1_1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g3daa309beb7_1_1"/>
          <p:cNvGrpSpPr/>
          <p:nvPr/>
        </p:nvGrpSpPr>
        <p:grpSpPr>
          <a:xfrm>
            <a:off x="4843650" y="-2"/>
            <a:ext cx="8600705" cy="1161590"/>
            <a:chOff x="0" y="-66675"/>
            <a:chExt cx="2183308" cy="405300"/>
          </a:xfrm>
        </p:grpSpPr>
        <p:sp>
          <p:nvSpPr>
            <p:cNvPr id="134" name="Google Shape;134;g3daa309beb7_1_1"/>
            <p:cNvSpPr/>
            <p:nvPr/>
          </p:nvSpPr>
          <p:spPr>
            <a:xfrm>
              <a:off x="0" y="0"/>
              <a:ext cx="2183308" cy="338475"/>
            </a:xfrm>
            <a:custGeom>
              <a:rect b="b" l="l" r="r" t="t"/>
              <a:pathLst>
                <a:path extrusionOk="0" h="338475" w="2183308">
                  <a:moveTo>
                    <a:pt x="2183308" y="0"/>
                  </a:moveTo>
                  <a:lnTo>
                    <a:pt x="0" y="0"/>
                  </a:lnTo>
                  <a:lnTo>
                    <a:pt x="101600" y="169238"/>
                  </a:lnTo>
                  <a:lnTo>
                    <a:pt x="0" y="338475"/>
                  </a:lnTo>
                  <a:lnTo>
                    <a:pt x="2183308" y="338475"/>
                  </a:lnTo>
                  <a:lnTo>
                    <a:pt x="2081708" y="169238"/>
                  </a:lnTo>
                  <a:lnTo>
                    <a:pt x="2183308" y="0"/>
                  </a:ln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3850" lIns="87750" spcFirstLastPara="1" rIns="87750" wrap="square" tIns="43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2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g3daa309beb7_1_1"/>
            <p:cNvSpPr txBox="1"/>
            <p:nvPr/>
          </p:nvSpPr>
          <p:spPr>
            <a:xfrm>
              <a:off x="88900" y="-66675"/>
              <a:ext cx="2005500" cy="4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74">
                  <a:solidFill>
                    <a:srgbClr val="593232"/>
                  </a:solidFill>
                </a:rPr>
                <a:t>Pet Community Cafe</a:t>
              </a:r>
              <a:endParaRPr sz="1344"/>
            </a:p>
          </p:txBody>
        </p:sp>
      </p:grpSp>
      <p:pic>
        <p:nvPicPr>
          <p:cNvPr id="136" name="Google Shape;136;g3daa309beb7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862" y="1316725"/>
            <a:ext cx="15996274" cy="87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 rot="-82300">
            <a:off x="16143454" y="8401145"/>
            <a:ext cx="2231692" cy="2374141"/>
          </a:xfrm>
          <a:custGeom>
            <a:rect b="b" l="l" r="r" t="t"/>
            <a:pathLst>
              <a:path extrusionOk="0" h="2374141" w="2231692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5"/>
          <p:cNvGrpSpPr/>
          <p:nvPr/>
        </p:nvGrpSpPr>
        <p:grpSpPr>
          <a:xfrm>
            <a:off x="3953775" y="55225"/>
            <a:ext cx="10650147" cy="1487833"/>
            <a:chOff x="-1" y="-66678"/>
            <a:chExt cx="2193600" cy="391855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2152978" cy="325177"/>
            </a:xfrm>
            <a:custGeom>
              <a:rect b="b" l="l" r="r" t="t"/>
              <a:pathLst>
                <a:path extrusionOk="0" h="325177" w="2152978">
                  <a:moveTo>
                    <a:pt x="2152978" y="0"/>
                  </a:moveTo>
                  <a:lnTo>
                    <a:pt x="0" y="0"/>
                  </a:lnTo>
                  <a:lnTo>
                    <a:pt x="101600" y="162589"/>
                  </a:lnTo>
                  <a:lnTo>
                    <a:pt x="0" y="325177"/>
                  </a:lnTo>
                  <a:lnTo>
                    <a:pt x="2152978" y="325177"/>
                  </a:lnTo>
                  <a:lnTo>
                    <a:pt x="2051378" y="162589"/>
                  </a:lnTo>
                  <a:lnTo>
                    <a:pt x="2152978" y="0"/>
                  </a:ln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-1" y="-66678"/>
              <a:ext cx="2193600" cy="39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99">
                  <a:solidFill>
                    <a:srgbClr val="593232"/>
                  </a:solidFill>
                  <a:latin typeface="Arial"/>
                  <a:ea typeface="Arial"/>
                  <a:cs typeface="Arial"/>
                  <a:sym typeface="Arial"/>
                </a:rPr>
                <a:t>Experiments, APIs / Models Tested &amp; Results</a:t>
              </a:r>
              <a:endParaRPr/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1028700" y="2219847"/>
            <a:ext cx="5422483" cy="816578"/>
            <a:chOff x="0" y="-66675"/>
            <a:chExt cx="3421913" cy="515309"/>
          </a:xfrm>
        </p:grpSpPr>
        <p:sp>
          <p:nvSpPr>
            <p:cNvPr id="147" name="Google Shape;147;p5"/>
            <p:cNvSpPr/>
            <p:nvPr/>
          </p:nvSpPr>
          <p:spPr>
            <a:xfrm>
              <a:off x="0" y="0"/>
              <a:ext cx="3421913" cy="448634"/>
            </a:xfrm>
            <a:custGeom>
              <a:rect b="b" l="l" r="r" t="t"/>
              <a:pathLst>
                <a:path extrusionOk="0" h="448634" w="3421913">
                  <a:moveTo>
                    <a:pt x="81381" y="0"/>
                  </a:moveTo>
                  <a:lnTo>
                    <a:pt x="3340532" y="0"/>
                  </a:lnTo>
                  <a:cubicBezTo>
                    <a:pt x="3385477" y="0"/>
                    <a:pt x="3421913" y="36436"/>
                    <a:pt x="3421913" y="81381"/>
                  </a:cubicBezTo>
                  <a:lnTo>
                    <a:pt x="3421913" y="367253"/>
                  </a:lnTo>
                  <a:cubicBezTo>
                    <a:pt x="3421913" y="412199"/>
                    <a:pt x="3385477" y="448634"/>
                    <a:pt x="3340532" y="448634"/>
                  </a:cubicBezTo>
                  <a:lnTo>
                    <a:pt x="81381" y="448634"/>
                  </a:lnTo>
                  <a:cubicBezTo>
                    <a:pt x="36436" y="448634"/>
                    <a:pt x="0" y="412199"/>
                    <a:pt x="0" y="367253"/>
                  </a:cubicBezTo>
                  <a:lnTo>
                    <a:pt x="0" y="81381"/>
                  </a:lnTo>
                  <a:cubicBezTo>
                    <a:pt x="0" y="36436"/>
                    <a:pt x="36436" y="0"/>
                    <a:pt x="81381" y="0"/>
                  </a:cubicBez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0" y="-66675"/>
              <a:ext cx="3421913" cy="515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Quantifiable evaluation metrics</a:t>
              </a:r>
              <a:endParaRPr/>
            </a:p>
          </p:txBody>
        </p:sp>
      </p:grpSp>
      <p:grpSp>
        <p:nvGrpSpPr>
          <p:cNvPr id="149" name="Google Shape;149;p5"/>
          <p:cNvGrpSpPr/>
          <p:nvPr/>
        </p:nvGrpSpPr>
        <p:grpSpPr>
          <a:xfrm>
            <a:off x="11575460" y="2219847"/>
            <a:ext cx="5532623" cy="813690"/>
            <a:chOff x="0" y="-66675"/>
            <a:chExt cx="3491418" cy="513487"/>
          </a:xfrm>
        </p:grpSpPr>
        <p:sp>
          <p:nvSpPr>
            <p:cNvPr id="150" name="Google Shape;150;p5"/>
            <p:cNvSpPr/>
            <p:nvPr/>
          </p:nvSpPr>
          <p:spPr>
            <a:xfrm>
              <a:off x="0" y="0"/>
              <a:ext cx="3491418" cy="446812"/>
            </a:xfrm>
            <a:custGeom>
              <a:rect b="b" l="l" r="r" t="t"/>
              <a:pathLst>
                <a:path extrusionOk="0" h="446812" w="3491418">
                  <a:moveTo>
                    <a:pt x="79761" y="0"/>
                  </a:moveTo>
                  <a:lnTo>
                    <a:pt x="3411657" y="0"/>
                  </a:lnTo>
                  <a:cubicBezTo>
                    <a:pt x="3455708" y="0"/>
                    <a:pt x="3491418" y="35710"/>
                    <a:pt x="3491418" y="79761"/>
                  </a:cubicBezTo>
                  <a:lnTo>
                    <a:pt x="3491418" y="367050"/>
                  </a:lnTo>
                  <a:cubicBezTo>
                    <a:pt x="3491418" y="411101"/>
                    <a:pt x="3455708" y="446812"/>
                    <a:pt x="3411657" y="446812"/>
                  </a:cubicBezTo>
                  <a:lnTo>
                    <a:pt x="79761" y="446812"/>
                  </a:lnTo>
                  <a:cubicBezTo>
                    <a:pt x="35710" y="446812"/>
                    <a:pt x="0" y="411101"/>
                    <a:pt x="0" y="367050"/>
                  </a:cubicBezTo>
                  <a:lnTo>
                    <a:pt x="0" y="79761"/>
                  </a:lnTo>
                  <a:cubicBezTo>
                    <a:pt x="0" y="35710"/>
                    <a:pt x="35710" y="0"/>
                    <a:pt x="79761" y="0"/>
                  </a:cubicBez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0" y="-66675"/>
              <a:ext cx="3491418" cy="51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Average API latency by workflow</a:t>
              </a:r>
              <a:endParaRPr/>
            </a:p>
          </p:txBody>
        </p:sp>
      </p:grpSp>
      <p:sp>
        <p:nvSpPr>
          <p:cNvPr id="152" name="Google Shape;152;p5"/>
          <p:cNvSpPr/>
          <p:nvPr/>
        </p:nvSpPr>
        <p:spPr>
          <a:xfrm>
            <a:off x="222206" y="3463712"/>
            <a:ext cx="7807813" cy="3542795"/>
          </a:xfrm>
          <a:custGeom>
            <a:rect b="b" l="l" r="r" t="t"/>
            <a:pathLst>
              <a:path extrusionOk="0" h="3542795" w="7807813">
                <a:moveTo>
                  <a:pt x="0" y="0"/>
                </a:moveTo>
                <a:lnTo>
                  <a:pt x="7807813" y="0"/>
                </a:lnTo>
                <a:lnTo>
                  <a:pt x="7807813" y="3542795"/>
                </a:lnTo>
                <a:lnTo>
                  <a:pt x="0" y="3542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A670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0261461" y="3463712"/>
            <a:ext cx="7808171" cy="3337993"/>
          </a:xfrm>
          <a:custGeom>
            <a:rect b="b" l="l" r="r" t="t"/>
            <a:pathLst>
              <a:path extrusionOk="0" h="3337993" w="7808171">
                <a:moveTo>
                  <a:pt x="0" y="0"/>
                </a:moveTo>
                <a:lnTo>
                  <a:pt x="7808171" y="0"/>
                </a:lnTo>
                <a:lnTo>
                  <a:pt x="7808171" y="3337993"/>
                </a:lnTo>
                <a:lnTo>
                  <a:pt x="0" y="3337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A6706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833750" y="1841732"/>
            <a:ext cx="10241917" cy="323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Scenario-based evaluation: functional flows, agent orchestration, and degraded-provider fallback</a:t>
            </a:r>
            <a:endParaRPr/>
          </a:p>
        </p:txBody>
      </p:sp>
      <p:graphicFrame>
        <p:nvGraphicFramePr>
          <p:cNvPr id="155" name="Google Shape;155;p5"/>
          <p:cNvGraphicFramePr/>
          <p:nvPr/>
        </p:nvGraphicFramePr>
        <p:xfrm>
          <a:off x="4863636" y="7168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{10FA52A1-599A-4976-AB54-B38F7005AE84}</a:tableStyleId>
              </a:tblPr>
              <a:tblGrid>
                <a:gridCol w="2940500"/>
                <a:gridCol w="2468975"/>
                <a:gridCol w="2772700"/>
              </a:tblGrid>
              <a:tr h="67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Target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Measured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</a:tr>
              <a:tr h="538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Parsing Accuracy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&gt;75%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~85–90%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538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Response Quality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&gt;3/5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~4.75/5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538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System Reliability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&gt;60% uptime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infra ready for live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709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Deployment Readiness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Full deployment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Successful Deployment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 rot="-82300">
            <a:off x="241596" y="8469324"/>
            <a:ext cx="2231692" cy="2374141"/>
          </a:xfrm>
          <a:custGeom>
            <a:rect b="b" l="l" r="r" t="t"/>
            <a:pathLst>
              <a:path extrusionOk="0" h="2374141" w="2231692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6"/>
          <p:cNvGrpSpPr/>
          <p:nvPr/>
        </p:nvGrpSpPr>
        <p:grpSpPr>
          <a:xfrm>
            <a:off x="213500" y="19727"/>
            <a:ext cx="8584617" cy="1449937"/>
            <a:chOff x="0" y="-66678"/>
            <a:chExt cx="2184381" cy="403500"/>
          </a:xfrm>
        </p:grpSpPr>
        <p:sp>
          <p:nvSpPr>
            <p:cNvPr id="163" name="Google Shape;163;p6"/>
            <p:cNvSpPr/>
            <p:nvPr/>
          </p:nvSpPr>
          <p:spPr>
            <a:xfrm>
              <a:off x="0" y="0"/>
              <a:ext cx="2184381" cy="336780"/>
            </a:xfrm>
            <a:custGeom>
              <a:rect b="b" l="l" r="r" t="t"/>
              <a:pathLst>
                <a:path extrusionOk="0" h="336780" w="2184381">
                  <a:moveTo>
                    <a:pt x="2184381" y="0"/>
                  </a:moveTo>
                  <a:lnTo>
                    <a:pt x="0" y="0"/>
                  </a:lnTo>
                  <a:lnTo>
                    <a:pt x="101600" y="168390"/>
                  </a:lnTo>
                  <a:lnTo>
                    <a:pt x="0" y="336780"/>
                  </a:lnTo>
                  <a:lnTo>
                    <a:pt x="2184381" y="336780"/>
                  </a:lnTo>
                  <a:lnTo>
                    <a:pt x="2082781" y="168390"/>
                  </a:lnTo>
                  <a:lnTo>
                    <a:pt x="2184381" y="0"/>
                  </a:ln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88899" y="-66678"/>
              <a:ext cx="2052000" cy="4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99">
                  <a:solidFill>
                    <a:srgbClr val="593232"/>
                  </a:solidFill>
                  <a:latin typeface="Arial"/>
                  <a:ea typeface="Arial"/>
                  <a:cs typeface="Arial"/>
                  <a:sym typeface="Arial"/>
                </a:rPr>
                <a:t>APIs / Models Tested &amp; Results - contd</a:t>
              </a:r>
              <a:endParaRPr/>
            </a:p>
          </p:txBody>
        </p:sp>
      </p:grpSp>
      <p:graphicFrame>
        <p:nvGraphicFramePr>
          <p:cNvPr id="165" name="Google Shape;165;p6"/>
          <p:cNvGraphicFramePr/>
          <p:nvPr/>
        </p:nvGraphicFramePr>
        <p:xfrm>
          <a:off x="140663" y="2154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{10FA52A1-599A-4976-AB54-B38F7005AE84}</a:tableStyleId>
              </a:tblPr>
              <a:tblGrid>
                <a:gridCol w="3551550"/>
                <a:gridCol w="3965425"/>
                <a:gridCol w="4542125"/>
              </a:tblGrid>
              <a:tr h="67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API / Workflow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Model / Tool Tested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Evaluation Focus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</a:tr>
              <a:tr h="5375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/api/parse-expense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Groq LLaMA 3.1-8B + function calling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Field extraction, category normalization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5375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/api/parse-receipt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Gemini 2.5 Flash Vision + Tesseract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OCR quality, review-before-save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5375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/api/cafe/gossip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OpenAI → Anthropic → Groq → Mock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Persona continuity, fallback resilience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5375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 /api/agent/execute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Planner → Executor → Reviewer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Task completion and evidence quality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873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/api/expenses +/api/budget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Supabase PostgreSQL + Pydantic schemas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CRUD persistence and validation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6"/>
          <p:cNvGraphicFramePr/>
          <p:nvPr/>
        </p:nvGraphicFramePr>
        <p:xfrm>
          <a:off x="9446461" y="6284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{10FA52A1-599A-4976-AB54-B38F7005AE84}</a:tableStyleId>
              </a:tblPr>
              <a:tblGrid>
                <a:gridCol w="3521875"/>
                <a:gridCol w="3999825"/>
              </a:tblGrid>
              <a:tr h="76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Current Limitations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E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Future Work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EAE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OCR limitations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Smart Alerts &amp; Calendar  Reminders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External API latency &amp; quotas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Migrate memory to durable database storage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Memory persistence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Enable confidence-based model routing &amp; cost optimization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-205105" lvl="1" marL="410209" marR="0" rtl="0" algn="l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Char char="•"/>
                      </a:pPr>
                      <a:r>
                        <a:rPr lang="en-US" sz="18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Add fraud/anomaly detection for spending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6"/>
          <p:cNvSpPr/>
          <p:nvPr/>
        </p:nvSpPr>
        <p:spPr>
          <a:xfrm>
            <a:off x="16437634" y="0"/>
            <a:ext cx="1850366" cy="2073239"/>
          </a:xfrm>
          <a:custGeom>
            <a:rect b="b" l="l" r="r" t="t"/>
            <a:pathLst>
              <a:path extrusionOk="0" h="2073239" w="1850366">
                <a:moveTo>
                  <a:pt x="0" y="0"/>
                </a:moveTo>
                <a:lnTo>
                  <a:pt x="1850366" y="0"/>
                </a:lnTo>
                <a:lnTo>
                  <a:pt x="1850366" y="2073239"/>
                </a:lnTo>
                <a:lnTo>
                  <a:pt x="0" y="2073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30" l="0" r="0" t="-103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 rot="-82300">
            <a:off x="241596" y="8348597"/>
            <a:ext cx="2231692" cy="2374141"/>
          </a:xfrm>
          <a:custGeom>
            <a:rect b="b" l="l" r="r" t="t"/>
            <a:pathLst>
              <a:path extrusionOk="0" h="2374141" w="2231692">
                <a:moveTo>
                  <a:pt x="0" y="0"/>
                </a:moveTo>
                <a:lnTo>
                  <a:pt x="2231692" y="0"/>
                </a:lnTo>
                <a:lnTo>
                  <a:pt x="2231692" y="2374141"/>
                </a:lnTo>
                <a:lnTo>
                  <a:pt x="0" y="2374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6583476" y="1401558"/>
            <a:ext cx="3931767" cy="1734633"/>
            <a:chOff x="0" y="-76200"/>
            <a:chExt cx="1944009" cy="857665"/>
          </a:xfrm>
        </p:grpSpPr>
        <p:sp>
          <p:nvSpPr>
            <p:cNvPr id="175" name="Google Shape;175;p7"/>
            <p:cNvSpPr/>
            <p:nvPr/>
          </p:nvSpPr>
          <p:spPr>
            <a:xfrm>
              <a:off x="0" y="0"/>
              <a:ext cx="1944009" cy="781465"/>
            </a:xfrm>
            <a:custGeom>
              <a:rect b="b" l="l" r="r" t="t"/>
              <a:pathLst>
                <a:path extrusionOk="0" h="781465" w="1944009">
                  <a:moveTo>
                    <a:pt x="157525" y="0"/>
                  </a:moveTo>
                  <a:lnTo>
                    <a:pt x="1786483" y="0"/>
                  </a:lnTo>
                  <a:cubicBezTo>
                    <a:pt x="1828261" y="0"/>
                    <a:pt x="1868329" y="16596"/>
                    <a:pt x="1897871" y="46138"/>
                  </a:cubicBezTo>
                  <a:cubicBezTo>
                    <a:pt x="1927412" y="75680"/>
                    <a:pt x="1944009" y="115747"/>
                    <a:pt x="1944009" y="157525"/>
                  </a:cubicBezTo>
                  <a:lnTo>
                    <a:pt x="1944009" y="623940"/>
                  </a:lnTo>
                  <a:cubicBezTo>
                    <a:pt x="1944009" y="665718"/>
                    <a:pt x="1927412" y="705785"/>
                    <a:pt x="1897871" y="735327"/>
                  </a:cubicBezTo>
                  <a:cubicBezTo>
                    <a:pt x="1868329" y="764869"/>
                    <a:pt x="1828261" y="781465"/>
                    <a:pt x="1786483" y="781465"/>
                  </a:cubicBezTo>
                  <a:lnTo>
                    <a:pt x="157525" y="781465"/>
                  </a:lnTo>
                  <a:cubicBezTo>
                    <a:pt x="115747" y="781465"/>
                    <a:pt x="75680" y="764869"/>
                    <a:pt x="46138" y="735327"/>
                  </a:cubicBezTo>
                  <a:cubicBezTo>
                    <a:pt x="16596" y="705785"/>
                    <a:pt x="0" y="665718"/>
                    <a:pt x="0" y="623940"/>
                  </a:cubicBezTo>
                  <a:lnTo>
                    <a:pt x="0" y="157525"/>
                  </a:lnTo>
                  <a:cubicBezTo>
                    <a:pt x="0" y="115747"/>
                    <a:pt x="16596" y="75680"/>
                    <a:pt x="46138" y="46138"/>
                  </a:cubicBezTo>
                  <a:cubicBezTo>
                    <a:pt x="75680" y="16596"/>
                    <a:pt x="115747" y="0"/>
                    <a:pt x="157525" y="0"/>
                  </a:cubicBezTo>
                  <a:close/>
                </a:path>
              </a:pathLst>
            </a:custGeom>
            <a:solidFill>
              <a:srgbClr val="DF926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 txBox="1"/>
            <p:nvPr/>
          </p:nvSpPr>
          <p:spPr>
            <a:xfrm>
              <a:off x="0" y="-76200"/>
              <a:ext cx="1944009" cy="857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7250" lIns="37250" spcFirstLastPara="1" rIns="37250" wrap="square" tIns="3725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99">
                  <a:solidFill>
                    <a:srgbClr val="2F2325"/>
                  </a:solidFill>
                  <a:latin typeface="Alata"/>
                  <a:ea typeface="Alata"/>
                  <a:cs typeface="Alata"/>
                  <a:sym typeface="Alata"/>
                </a:rPr>
                <a:t>Demo</a:t>
              </a:r>
              <a:endParaRPr/>
            </a:p>
          </p:txBody>
        </p:sp>
      </p:grpSp>
      <p:graphicFrame>
        <p:nvGraphicFramePr>
          <p:cNvPr id="177" name="Google Shape;177;p7"/>
          <p:cNvGraphicFramePr/>
          <p:nvPr/>
        </p:nvGraphicFramePr>
        <p:xfrm>
          <a:off x="3730006" y="3671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{10FA52A1-599A-4976-AB54-B38F7005AE84}</a:tableStyleId>
              </a:tblPr>
              <a:tblGrid>
                <a:gridCol w="3807000"/>
                <a:gridCol w="7384025"/>
              </a:tblGrid>
              <a:tr h="12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Service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399" u="none" cap="none" strike="noStrike">
                          <a:solidFill>
                            <a:srgbClr val="000000"/>
                          </a:solidFill>
                          <a:latin typeface="Gochi Hand"/>
                          <a:ea typeface="Gochi Hand"/>
                          <a:cs typeface="Gochi Hand"/>
                          <a:sym typeface="Gochi Hand"/>
                        </a:rPr>
                        <a:t>URL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BAE"/>
                    </a:solidFill>
                  </a:tcPr>
                </a:tc>
              </a:tr>
              <a:tr h="1104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🌐 Frontend (Vercel)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sng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https://budget-buddy-llm-app.vercel.app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1104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⚙️ Backend (Railway)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sng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https://budgetbuddy-group3.up.railway.app</a:t>
                      </a:r>
                      <a:endParaRPr sz="1100" u="none" cap="none" strike="noStrike"/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  <a:tr h="11161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🔴 Live Demo Link </a:t>
                      </a:r>
                      <a:endParaRPr sz="2499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</a:t>
                      </a:r>
                      <a:r>
                        <a:rPr lang="en-US" sz="2499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7"/>
                        </a:rPr>
                        <a:t>Budget Buddy Demo</a:t>
                      </a:r>
                      <a:endParaRPr sz="2499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7625" marB="47625" marR="47625" marL="47625" anchor="ctr">
                    <a:lnL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EFE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7"/>
          <p:cNvSpPr/>
          <p:nvPr/>
        </p:nvSpPr>
        <p:spPr>
          <a:xfrm>
            <a:off x="10665568" y="8322226"/>
            <a:ext cx="1816707" cy="2359360"/>
          </a:xfrm>
          <a:custGeom>
            <a:rect b="b" l="l" r="r" t="t"/>
            <a:pathLst>
              <a:path extrusionOk="0" h="2359360" w="1816707">
                <a:moveTo>
                  <a:pt x="0" y="0"/>
                </a:moveTo>
                <a:lnTo>
                  <a:pt x="1816707" y="0"/>
                </a:lnTo>
                <a:lnTo>
                  <a:pt x="1816707" y="2359360"/>
                </a:lnTo>
                <a:lnTo>
                  <a:pt x="0" y="2359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5500996" y="8322226"/>
            <a:ext cx="2381490" cy="2668336"/>
          </a:xfrm>
          <a:custGeom>
            <a:rect b="b" l="l" r="r" t="t"/>
            <a:pathLst>
              <a:path extrusionOk="0" h="2668336" w="2381490">
                <a:moveTo>
                  <a:pt x="0" y="0"/>
                </a:moveTo>
                <a:lnTo>
                  <a:pt x="2381489" y="0"/>
                </a:lnTo>
                <a:lnTo>
                  <a:pt x="2381489" y="2668336"/>
                </a:lnTo>
                <a:lnTo>
                  <a:pt x="0" y="2668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520105" y="8322226"/>
            <a:ext cx="2126742" cy="2250521"/>
          </a:xfrm>
          <a:custGeom>
            <a:rect b="b" l="l" r="r" t="t"/>
            <a:pathLst>
              <a:path extrusionOk="0" h="2250521" w="2126742">
                <a:moveTo>
                  <a:pt x="0" y="0"/>
                </a:moveTo>
                <a:lnTo>
                  <a:pt x="2126742" y="0"/>
                </a:lnTo>
                <a:lnTo>
                  <a:pt x="2126742" y="2250521"/>
                </a:lnTo>
                <a:lnTo>
                  <a:pt x="0" y="2250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