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287000" cx="18288000"/>
  <p:notesSz cx="6858000" cy="9144000"/>
  <p:embeddedFontLst>
    <p:embeddedFont>
      <p:font typeface="Alata"/>
      <p:regular r:id="rId8"/>
    </p:embeddedFont>
    <p:embeddedFont>
      <p:font typeface="Lilita One"/>
      <p:regular r:id="rId9"/>
    </p:embeddedFont>
    <p:embeddedFont>
      <p:font typeface="Gochi Hand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h1zk//71xbXgeDggpEkkxHRF8e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GochiHand-regular.fntdata"/><Relationship Id="rId9" Type="http://schemas.openxmlformats.org/officeDocument/2006/relationships/font" Target="fonts/Lilit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lat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28" l="0" r="0" t="-10328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75625" y="-2"/>
            <a:ext cx="74718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83" u="none" cap="none" strike="noStrike">
                <a:solidFill>
                  <a:srgbClr val="2F2325"/>
                </a:solidFill>
                <a:latin typeface="Lilita One"/>
                <a:ea typeface="Lilita One"/>
                <a:cs typeface="Lilita One"/>
                <a:sym typeface="Lilita One"/>
              </a:rPr>
              <a:t>Budget Buddy</a:t>
            </a:r>
            <a:endParaRPr b="1"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5632" y="1433022"/>
            <a:ext cx="9144000" cy="2759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Problem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Personal finance is fragmented and hard to manage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Users struggle with tracking spending, understanding statements, and planning savings/debt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Existing tools are static and lack personalized guidance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730796" y="1452072"/>
            <a:ext cx="8557204" cy="3096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5757"/>
                </a:solidFill>
                <a:latin typeface="Lilita One"/>
                <a:ea typeface="Lilita One"/>
                <a:cs typeface="Lilita One"/>
                <a:sym typeface="Lilita One"/>
              </a:rPr>
              <a:t>Solution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593232"/>
                </a:solidFill>
                <a:latin typeface="Alata"/>
                <a:ea typeface="Alata"/>
                <a:cs typeface="Alata"/>
                <a:sym typeface="Alata"/>
              </a:rPr>
              <a:t>BudgetBuddy </a:t>
            </a: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is an AI-powered personal finance assistant that: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Ingests user financial data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Enriches it with real-world financial signals</a:t>
            </a:r>
            <a:endParaRPr/>
          </a:p>
          <a:p>
            <a:pPr indent="-313055" lvl="1" marL="626111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91717"/>
              </a:buClr>
              <a:buSzPts val="2900"/>
              <a:buFont typeface="Arial"/>
              <a:buChar char="•"/>
            </a:pPr>
            <a:r>
              <a:rPr b="0" i="0" lang="en-US" sz="29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rPr>
              <a:t>Uses LLMs to provide personalized, conversational advice</a:t>
            </a:r>
            <a:endParaRPr/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291717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1028700" y="4853772"/>
            <a:ext cx="7260525" cy="4968656"/>
            <a:chOff x="0" y="-140874"/>
            <a:chExt cx="9680700" cy="6624874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1062911" y="-140874"/>
              <a:ext cx="7083123" cy="1231773"/>
              <a:chOff x="0" y="-66675"/>
              <a:chExt cx="3352408" cy="582992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3352408" cy="516317"/>
              </a:xfrm>
              <a:custGeom>
                <a:rect b="b" l="l" r="r" t="t"/>
                <a:pathLst>
                  <a:path extrusionOk="0" h="516317" w="3352408">
                    <a:moveTo>
                      <a:pt x="83261" y="0"/>
                    </a:moveTo>
                    <a:lnTo>
                      <a:pt x="3269146" y="0"/>
                    </a:lnTo>
                    <a:cubicBezTo>
                      <a:pt x="3315130" y="0"/>
                      <a:pt x="3352408" y="37277"/>
                      <a:pt x="3352408" y="83261"/>
                    </a:cubicBezTo>
                    <a:lnTo>
                      <a:pt x="3352408" y="433056"/>
                    </a:lnTo>
                    <a:cubicBezTo>
                      <a:pt x="3352408" y="479040"/>
                      <a:pt x="3315130" y="516317"/>
                      <a:pt x="3269146" y="516317"/>
                    </a:cubicBezTo>
                    <a:lnTo>
                      <a:pt x="83261" y="516317"/>
                    </a:lnTo>
                    <a:cubicBezTo>
                      <a:pt x="37277" y="516317"/>
                      <a:pt x="0" y="479040"/>
                      <a:pt x="0" y="433056"/>
                    </a:cubicBezTo>
                    <a:lnTo>
                      <a:pt x="0" y="83261"/>
                    </a:lnTo>
                    <a:cubicBezTo>
                      <a:pt x="0" y="37277"/>
                      <a:pt x="37277" y="0"/>
                      <a:pt x="83261" y="0"/>
                    </a:cubicBezTo>
                    <a:close/>
                  </a:path>
                </a:pathLst>
              </a:custGeom>
              <a:solidFill>
                <a:srgbClr val="DF92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0" y="-66675"/>
                <a:ext cx="3352408" cy="5829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900" u="none" cap="none" strike="noStrike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🧰 Tech Stack</a:t>
                </a:r>
                <a:endParaRPr/>
              </a:p>
            </p:txBody>
          </p:sp>
        </p:grpSp>
        <p:sp>
          <p:nvSpPr>
            <p:cNvPr id="92" name="Google Shape;92;p1"/>
            <p:cNvSpPr txBox="1"/>
            <p:nvPr/>
          </p:nvSpPr>
          <p:spPr>
            <a:xfrm>
              <a:off x="0" y="1465600"/>
              <a:ext cx="9680700" cy="50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📱 Frontend: Kotlin, Jetpack Compose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⚙️ Backend: Python, FastAPI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🧠 LLMs: GPT-4o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🗄️ Database: Supabase, PostgreSQL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🔍 Vector DB: Supabase, pgvector (RAG)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1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🌐 APIs: OpenAI API</a:t>
              </a:r>
              <a:endParaRPr/>
            </a:p>
            <a:p>
              <a:pPr indent="0" lvl="0" marL="0" marR="0" rtl="0" algn="l">
                <a:lnSpc>
                  <a:spcPct val="140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1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9730796" y="4824577"/>
            <a:ext cx="8203486" cy="4751614"/>
            <a:chOff x="0" y="-179801"/>
            <a:chExt cx="10937982" cy="6335485"/>
          </a:xfrm>
        </p:grpSpPr>
        <p:grpSp>
          <p:nvGrpSpPr>
            <p:cNvPr id="94" name="Google Shape;94;p1"/>
            <p:cNvGrpSpPr/>
            <p:nvPr/>
          </p:nvGrpSpPr>
          <p:grpSpPr>
            <a:xfrm>
              <a:off x="1525587" y="-179801"/>
              <a:ext cx="5871184" cy="1200438"/>
              <a:chOff x="0" y="-66675"/>
              <a:chExt cx="2177195" cy="445155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0" y="0"/>
                <a:ext cx="2177195" cy="378480"/>
              </a:xfrm>
              <a:custGeom>
                <a:rect b="b" l="l" r="r" t="t"/>
                <a:pathLst>
                  <a:path extrusionOk="0" h="378480" w="2177195">
                    <a:moveTo>
                      <a:pt x="128205" y="0"/>
                    </a:moveTo>
                    <a:lnTo>
                      <a:pt x="2048991" y="0"/>
                    </a:lnTo>
                    <a:cubicBezTo>
                      <a:pt x="2119796" y="0"/>
                      <a:pt x="2177195" y="57399"/>
                      <a:pt x="2177195" y="128205"/>
                    </a:cubicBezTo>
                    <a:lnTo>
                      <a:pt x="2177195" y="250276"/>
                    </a:lnTo>
                    <a:cubicBezTo>
                      <a:pt x="2177195" y="321081"/>
                      <a:pt x="2119796" y="378480"/>
                      <a:pt x="2048991" y="378480"/>
                    </a:cubicBezTo>
                    <a:lnTo>
                      <a:pt x="128205" y="378480"/>
                    </a:lnTo>
                    <a:cubicBezTo>
                      <a:pt x="94203" y="378480"/>
                      <a:pt x="61593" y="364973"/>
                      <a:pt x="37550" y="340930"/>
                    </a:cubicBezTo>
                    <a:cubicBezTo>
                      <a:pt x="13507" y="316887"/>
                      <a:pt x="0" y="284278"/>
                      <a:pt x="0" y="250276"/>
                    </a:cubicBezTo>
                    <a:lnTo>
                      <a:pt x="0" y="128205"/>
                    </a:lnTo>
                    <a:cubicBezTo>
                      <a:pt x="0" y="57399"/>
                      <a:pt x="57399" y="0"/>
                      <a:pt x="128205" y="0"/>
                    </a:cubicBezTo>
                    <a:close/>
                  </a:path>
                </a:pathLst>
              </a:custGeom>
              <a:solidFill>
                <a:srgbClr val="DF92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0" y="-66675"/>
                <a:ext cx="2177195" cy="445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0875" lIns="40875" spcFirstLastPara="1" rIns="40875" wrap="square" tIns="40875">
                <a:noAutofit/>
              </a:bodyPr>
              <a:lstStyle/>
              <a:p>
                <a:pPr indent="0" lvl="0" marL="0" marR="0" rtl="0" algn="ctr">
                  <a:lnSpc>
                    <a:spcPct val="14001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99" u="none" cap="none" strike="noStrike">
                    <a:solidFill>
                      <a:srgbClr val="2F2325"/>
                    </a:solidFill>
                    <a:latin typeface="Gochi Hand"/>
                    <a:ea typeface="Gochi Hand"/>
                    <a:cs typeface="Gochi Hand"/>
                    <a:sym typeface="Gochi Hand"/>
                  </a:rPr>
                  <a:t>Success Metrics</a:t>
                </a:r>
                <a:endParaRPr/>
              </a:p>
            </p:txBody>
          </p:sp>
        </p:grpSp>
        <p:sp>
          <p:nvSpPr>
            <p:cNvPr id="97" name="Google Shape;97;p1"/>
            <p:cNvSpPr txBox="1"/>
            <p:nvPr/>
          </p:nvSpPr>
          <p:spPr>
            <a:xfrm>
              <a:off x="0" y="1319312"/>
              <a:ext cx="10937982" cy="4836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Accuracy: Correct parsing and categorization of statements (target: &gt;75%).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Response Quality: User ratings of LLM-generated advice (target: &gt;3/5).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System Reliability: Uptime and error rates (target: &gt;60% uptime).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291717"/>
                  </a:solidFill>
                  <a:latin typeface="Alata"/>
                  <a:ea typeface="Alata"/>
                  <a:cs typeface="Alata"/>
                  <a:sym typeface="Alata"/>
                </a:rPr>
                <a:t>Deployment Readiness: Successful deployment</a:t>
              </a:r>
              <a:endParaRPr/>
            </a:p>
            <a:p>
              <a:pPr indent="0" lvl="1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00" u="none" cap="none" strike="noStrike">
                <a:solidFill>
                  <a:srgbClr val="291717"/>
                </a:solidFill>
                <a:latin typeface="Alata"/>
                <a:ea typeface="Alata"/>
                <a:cs typeface="Alata"/>
                <a:sym typeface="Alata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3411064" y="41403"/>
            <a:ext cx="4676759" cy="1212928"/>
            <a:chOff x="0" y="-66675"/>
            <a:chExt cx="2082748" cy="540166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2082748" cy="473491"/>
            </a:xfrm>
            <a:custGeom>
              <a:rect b="b" l="l" r="r" t="t"/>
              <a:pathLst>
                <a:path extrusionOk="0" h="473491" w="2082748">
                  <a:moveTo>
                    <a:pt x="132432" y="0"/>
                  </a:moveTo>
                  <a:lnTo>
                    <a:pt x="1950316" y="0"/>
                  </a:lnTo>
                  <a:cubicBezTo>
                    <a:pt x="2023456" y="0"/>
                    <a:pt x="2082748" y="59292"/>
                    <a:pt x="2082748" y="132432"/>
                  </a:cubicBezTo>
                  <a:lnTo>
                    <a:pt x="2082748" y="341058"/>
                  </a:lnTo>
                  <a:cubicBezTo>
                    <a:pt x="2082748" y="414199"/>
                    <a:pt x="2023456" y="473491"/>
                    <a:pt x="1950316" y="473491"/>
                  </a:cubicBezTo>
                  <a:lnTo>
                    <a:pt x="132432" y="473491"/>
                  </a:lnTo>
                  <a:cubicBezTo>
                    <a:pt x="59292" y="473491"/>
                    <a:pt x="0" y="414199"/>
                    <a:pt x="0" y="341058"/>
                  </a:cubicBezTo>
                  <a:lnTo>
                    <a:pt x="0" y="132432"/>
                  </a:lnTo>
                  <a:cubicBezTo>
                    <a:pt x="0" y="59292"/>
                    <a:pt x="59292" y="0"/>
                    <a:pt x="132432" y="0"/>
                  </a:cubicBezTo>
                  <a:close/>
                </a:path>
              </a:pathLst>
            </a:custGeom>
            <a:solidFill>
              <a:srgbClr val="FFDBA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66675"/>
              <a:ext cx="2082748" cy="540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75" lIns="40875" spcFirstLastPara="1" rIns="40875" wrap="square" tIns="40875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69" u="none" cap="none" strike="noStrike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Alyssa Sharma</a:t>
              </a:r>
              <a:endParaRPr/>
            </a:p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69" u="none" cap="none" strike="noStrike">
                  <a:solidFill>
                    <a:srgbClr val="2F2325"/>
                  </a:solidFill>
                  <a:latin typeface="Gochi Hand"/>
                  <a:ea typeface="Gochi Hand"/>
                  <a:cs typeface="Gochi Hand"/>
                  <a:sym typeface="Gochi Hand"/>
                </a:rPr>
                <a:t>Leela Josna Kona</a:t>
              </a:r>
              <a:endParaRPr/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6340220" y="8847839"/>
            <a:ext cx="3079412" cy="3275970"/>
          </a:xfrm>
          <a:custGeom>
            <a:rect b="b" l="l" r="r" t="t"/>
            <a:pathLst>
              <a:path extrusionOk="0" h="3275970" w="3079412">
                <a:moveTo>
                  <a:pt x="0" y="0"/>
                </a:moveTo>
                <a:lnTo>
                  <a:pt x="3079412" y="0"/>
                </a:lnTo>
                <a:lnTo>
                  <a:pt x="3079412" y="3275971"/>
                </a:lnTo>
                <a:lnTo>
                  <a:pt x="0" y="32759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328" l="0" r="0" t="-10328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3272611" y="1483136"/>
            <a:ext cx="11716781" cy="8538604"/>
          </a:xfrm>
          <a:custGeom>
            <a:rect b="b" l="l" r="r" t="t"/>
            <a:pathLst>
              <a:path extrusionOk="0" h="8538604" w="11716781">
                <a:moveTo>
                  <a:pt x="0" y="0"/>
                </a:moveTo>
                <a:lnTo>
                  <a:pt x="11716781" y="0"/>
                </a:lnTo>
                <a:lnTo>
                  <a:pt x="11716781" y="8538604"/>
                </a:lnTo>
                <a:lnTo>
                  <a:pt x="0" y="8538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4211974" y="223325"/>
            <a:ext cx="101898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7083" u="none" cap="none" strike="noStrike">
                <a:solidFill>
                  <a:srgbClr val="2F2325"/>
                </a:solidFill>
                <a:latin typeface="Lilita One"/>
                <a:ea typeface="Lilita One"/>
                <a:cs typeface="Lilita One"/>
                <a:sym typeface="Lilita One"/>
              </a:rPr>
              <a:t>System Architecture</a:t>
            </a:r>
            <a:endParaRPr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